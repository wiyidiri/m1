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
      <p:font typeface="Maven Pro"/>
      <p:regular r:id="rId19"/>
      <p:bold r:id="rId20"/>
    </p:embeddedFont>
    <p:embeddedFont>
      <p:font typeface="Merriweath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bold.fntdata"/><Relationship Id="rId11" Type="http://schemas.openxmlformats.org/officeDocument/2006/relationships/slide" Target="slides/slide6.xml"/><Relationship Id="rId22" Type="http://schemas.openxmlformats.org/officeDocument/2006/relationships/font" Target="fonts/Merriweather-bold.fntdata"/><Relationship Id="rId10" Type="http://schemas.openxmlformats.org/officeDocument/2006/relationships/slide" Target="slides/slide5.xml"/><Relationship Id="rId21" Type="http://schemas.openxmlformats.org/officeDocument/2006/relationships/font" Target="fonts/Merriweather-regular.fntdata"/><Relationship Id="rId13" Type="http://schemas.openxmlformats.org/officeDocument/2006/relationships/slide" Target="slides/slide8.xml"/><Relationship Id="rId24" Type="http://schemas.openxmlformats.org/officeDocument/2006/relationships/font" Target="fonts/Merriweather-boldItalic.fntdata"/><Relationship Id="rId12" Type="http://schemas.openxmlformats.org/officeDocument/2006/relationships/slide" Target="slides/slide7.xml"/><Relationship Id="rId23" Type="http://schemas.openxmlformats.org/officeDocument/2006/relationships/font" Target="fonts/Merriweath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19" Type="http://schemas.openxmlformats.org/officeDocument/2006/relationships/font" Target="fonts/MavenPro-regular.fntdata"/><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37590da6c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937590da6c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37590da6c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37590da6c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937590da6c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937590da6c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37590da6c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937590da6c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937590da6c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937590da6c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937590da6c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937590da6c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37590da6c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37590da6c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37590da6c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37590da6c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rgbClr val="64B2A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677E"/>
        </a:solidFill>
      </p:bgPr>
    </p:bg>
    <p:spTree>
      <p:nvGrpSpPr>
        <p:cNvPr id="276" name="Shape 276"/>
        <p:cNvGrpSpPr/>
        <p:nvPr/>
      </p:nvGrpSpPr>
      <p:grpSpPr>
        <a:xfrm>
          <a:off x="0" y="0"/>
          <a:ext cx="0" cy="0"/>
          <a:chOff x="0" y="0"/>
          <a:chExt cx="0" cy="0"/>
        </a:xfrm>
      </p:grpSpPr>
      <p:sp>
        <p:nvSpPr>
          <p:cNvPr id="277" name="Google Shape;277;p13"/>
          <p:cNvSpPr txBox="1"/>
          <p:nvPr>
            <p:ph idx="1" type="subTitle"/>
          </p:nvPr>
        </p:nvSpPr>
        <p:spPr>
          <a:xfrm>
            <a:off x="399075" y="3596300"/>
            <a:ext cx="50253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Times New Roman"/>
                <a:ea typeface="Times New Roman"/>
                <a:cs typeface="Times New Roman"/>
                <a:sym typeface="Times New Roman"/>
              </a:rPr>
              <a:t>-</a:t>
            </a:r>
            <a:r>
              <a:rPr lang="es">
                <a:latin typeface="Times New Roman"/>
                <a:ea typeface="Times New Roman"/>
                <a:cs typeface="Times New Roman"/>
                <a:sym typeface="Times New Roman"/>
              </a:rPr>
              <a:t>Optimizar la estrategia de segmentación</a:t>
            </a:r>
            <a:endParaRPr>
              <a:latin typeface="Times New Roman"/>
              <a:ea typeface="Times New Roman"/>
              <a:cs typeface="Times New Roman"/>
              <a:sym typeface="Times New Roman"/>
            </a:endParaRPr>
          </a:p>
          <a:p>
            <a:pPr indent="0" lvl="0" marL="0" rtl="0" algn="l">
              <a:spcBef>
                <a:spcPts val="0"/>
              </a:spcBef>
              <a:spcAft>
                <a:spcPts val="0"/>
              </a:spcAft>
              <a:buNone/>
            </a:pPr>
            <a:r>
              <a:rPr lang="es">
                <a:latin typeface="Times New Roman"/>
                <a:ea typeface="Times New Roman"/>
                <a:cs typeface="Times New Roman"/>
                <a:sym typeface="Times New Roman"/>
              </a:rPr>
              <a:t>-Recomendaciones accionables</a:t>
            </a:r>
            <a:r>
              <a:rPr lang="es"/>
              <a:t> </a:t>
            </a:r>
            <a:endParaRPr/>
          </a:p>
        </p:txBody>
      </p:sp>
      <p:pic>
        <p:nvPicPr>
          <p:cNvPr id="278" name="Google Shape;278;p13"/>
          <p:cNvPicPr preferRelativeResize="0"/>
          <p:nvPr/>
        </p:nvPicPr>
        <p:blipFill>
          <a:blip r:embed="rId3">
            <a:alphaModFix/>
          </a:blip>
          <a:stretch>
            <a:fillRect/>
          </a:stretch>
        </p:blipFill>
        <p:spPr>
          <a:xfrm>
            <a:off x="647325" y="515150"/>
            <a:ext cx="4370725" cy="2848775"/>
          </a:xfrm>
          <a:prstGeom prst="rect">
            <a:avLst/>
          </a:prstGeom>
          <a:noFill/>
          <a:ln>
            <a:noFill/>
          </a:ln>
        </p:spPr>
      </p:pic>
      <p:sp>
        <p:nvSpPr>
          <p:cNvPr id="279" name="Google Shape;279;p13"/>
          <p:cNvSpPr txBox="1"/>
          <p:nvPr>
            <p:ph idx="1" type="subTitle"/>
          </p:nvPr>
        </p:nvSpPr>
        <p:spPr>
          <a:xfrm>
            <a:off x="6341850" y="4745550"/>
            <a:ext cx="1538100" cy="370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latin typeface="Times New Roman"/>
                <a:ea typeface="Times New Roman"/>
                <a:cs typeface="Times New Roman"/>
                <a:sym typeface="Times New Roman"/>
              </a:rPr>
              <a:t>05/02/2026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283" name="Shape 283"/>
        <p:cNvGrpSpPr/>
        <p:nvPr/>
      </p:nvGrpSpPr>
      <p:grpSpPr>
        <a:xfrm>
          <a:off x="0" y="0"/>
          <a:ext cx="0" cy="0"/>
          <a:chOff x="0" y="0"/>
          <a:chExt cx="0" cy="0"/>
        </a:xfrm>
      </p:grpSpPr>
      <p:sp>
        <p:nvSpPr>
          <p:cNvPr id="284" name="Google Shape;284;p14"/>
          <p:cNvSpPr txBox="1"/>
          <p:nvPr>
            <p:ph type="title"/>
          </p:nvPr>
        </p:nvSpPr>
        <p:spPr>
          <a:xfrm>
            <a:off x="1510675" y="525250"/>
            <a:ext cx="7030500" cy="62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0C677E"/>
                </a:solidFill>
                <a:latin typeface="Times New Roman"/>
                <a:ea typeface="Times New Roman"/>
                <a:cs typeface="Times New Roman"/>
                <a:sym typeface="Times New Roman"/>
              </a:rPr>
              <a:t>-</a:t>
            </a:r>
            <a:r>
              <a:rPr lang="es">
                <a:solidFill>
                  <a:srgbClr val="0C677E"/>
                </a:solidFill>
                <a:latin typeface="Times New Roman"/>
                <a:ea typeface="Times New Roman"/>
                <a:cs typeface="Times New Roman"/>
                <a:sym typeface="Times New Roman"/>
              </a:rPr>
              <a:t>Contexto y objetivo-</a:t>
            </a:r>
            <a:endParaRPr>
              <a:solidFill>
                <a:srgbClr val="0C677E"/>
              </a:solidFill>
              <a:latin typeface="Times New Roman"/>
              <a:ea typeface="Times New Roman"/>
              <a:cs typeface="Times New Roman"/>
              <a:sym typeface="Times New Roman"/>
            </a:endParaRPr>
          </a:p>
        </p:txBody>
      </p:sp>
      <p:sp>
        <p:nvSpPr>
          <p:cNvPr id="285" name="Google Shape;285;p14"/>
          <p:cNvSpPr txBox="1"/>
          <p:nvPr>
            <p:ph idx="1" type="body"/>
          </p:nvPr>
        </p:nvSpPr>
        <p:spPr>
          <a:xfrm>
            <a:off x="222350" y="1329125"/>
            <a:ext cx="8747400" cy="3391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s" sz="5625">
                <a:solidFill>
                  <a:srgbClr val="0C677E"/>
                </a:solidFill>
                <a:latin typeface="Times New Roman"/>
                <a:ea typeface="Times New Roman"/>
                <a:cs typeface="Times New Roman"/>
                <a:sym typeface="Times New Roman"/>
              </a:rPr>
              <a:t>I</a:t>
            </a:r>
            <a:r>
              <a:rPr lang="es" sz="5625">
                <a:solidFill>
                  <a:srgbClr val="0C677E"/>
                </a:solidFill>
                <a:latin typeface="Times New Roman"/>
                <a:ea typeface="Times New Roman"/>
                <a:cs typeface="Times New Roman"/>
                <a:sym typeface="Times New Roman"/>
              </a:rPr>
              <a:t>dentificar</a:t>
            </a:r>
            <a:r>
              <a:rPr lang="es" sz="5625">
                <a:solidFill>
                  <a:srgbClr val="0C677E"/>
                </a:solidFill>
                <a:latin typeface="Times New Roman"/>
                <a:ea typeface="Times New Roman"/>
                <a:cs typeface="Times New Roman"/>
                <a:sym typeface="Times New Roman"/>
              </a:rPr>
              <a:t> oportunidades de alto impacto económico en el mercado gastronómico de Miami combinando datos de clientes y reputación de restaurantes. Se realizó un EDA de un dataset de clientes que maneja variables importantes como edad, estrato, frecuencia de visitas, gasto promedio e ingresos  y una extracción de datos de API yelp de los restaurantes que a</a:t>
            </a:r>
            <a:r>
              <a:rPr lang="es" sz="5625">
                <a:solidFill>
                  <a:srgbClr val="0C677E"/>
                </a:solidFill>
                <a:latin typeface="Times New Roman"/>
                <a:ea typeface="Times New Roman"/>
                <a:cs typeface="Times New Roman"/>
                <a:sym typeface="Times New Roman"/>
              </a:rPr>
              <a:t>portan métricas de mercado como categorías gastronómicas, rangos de precio, calificaciones y volumen de reseñas.</a:t>
            </a:r>
            <a:endParaRPr sz="5625">
              <a:solidFill>
                <a:srgbClr val="0C677E"/>
              </a:solidFill>
              <a:latin typeface="Times New Roman"/>
              <a:ea typeface="Times New Roman"/>
              <a:cs typeface="Times New Roman"/>
              <a:sym typeface="Times New Roman"/>
            </a:endParaRPr>
          </a:p>
          <a:p>
            <a:pPr indent="0" lvl="0" marL="0" rtl="0" algn="l">
              <a:spcBef>
                <a:spcPts val="1200"/>
              </a:spcBef>
              <a:spcAft>
                <a:spcPts val="0"/>
              </a:spcAft>
              <a:buNone/>
            </a:pPr>
            <a:r>
              <a:rPr lang="es" sz="5625">
                <a:solidFill>
                  <a:srgbClr val="0C677E"/>
                </a:solidFill>
                <a:latin typeface="Times New Roman"/>
                <a:ea typeface="Times New Roman"/>
                <a:cs typeface="Times New Roman"/>
                <a:sym typeface="Times New Roman"/>
              </a:rPr>
              <a:t>Se analiza el mercado gastronómico de la ciudad de Miami para identificar oportunidades estratégicas de alto impacto económico, mediante la evaluación del comportamiento del consumidor, la estructura de precios, la reputación de los restaurantes y las tendencias de consumo, con el fin de generar recomendaciones accionables orientadas a la captura de valor y diferenciación competitiva.</a:t>
            </a:r>
            <a:endParaRPr sz="5625">
              <a:solidFill>
                <a:srgbClr val="0C677E"/>
              </a:solidFill>
              <a:latin typeface="Times New Roman"/>
              <a:ea typeface="Times New Roman"/>
              <a:cs typeface="Times New Roman"/>
              <a:sym typeface="Times New Roman"/>
            </a:endParaRPr>
          </a:p>
          <a:p>
            <a:pPr indent="0" lvl="0" marL="0" rtl="0" algn="l">
              <a:spcBef>
                <a:spcPts val="1200"/>
              </a:spcBef>
              <a:spcAft>
                <a:spcPts val="0"/>
              </a:spcAft>
              <a:buNone/>
            </a:pPr>
            <a:r>
              <a:rPr lang="es" sz="5625">
                <a:solidFill>
                  <a:srgbClr val="0C677E"/>
                </a:solidFill>
                <a:latin typeface="Times New Roman"/>
                <a:ea typeface="Times New Roman"/>
                <a:cs typeface="Times New Roman"/>
                <a:sym typeface="Times New Roman"/>
              </a:rPr>
              <a:t>La ciudad de Miami fue seleccionada como caso de estudio debido a su alto dinamismo económico, elevada frecuencia de consumo fuera del hogar y capacidad de absorción de precios medios y altos. Estas características la convierten en un entorno ideal para analizar patrones de consumo, evaluar la presencia de segmentos premium y detectar tendencias emergentes asociadas a estilos de vida saludables.</a:t>
            </a:r>
            <a:endParaRPr sz="5625">
              <a:solidFill>
                <a:srgbClr val="0C677E"/>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rgbClr val="0C677E"/>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289" name="Shape 289"/>
        <p:cNvGrpSpPr/>
        <p:nvPr/>
      </p:nvGrpSpPr>
      <p:grpSpPr>
        <a:xfrm>
          <a:off x="0" y="0"/>
          <a:ext cx="0" cy="0"/>
          <a:chOff x="0" y="0"/>
          <a:chExt cx="0" cy="0"/>
        </a:xfrm>
      </p:grpSpPr>
      <p:sp>
        <p:nvSpPr>
          <p:cNvPr id="290" name="Google Shape;290;p15"/>
          <p:cNvSpPr txBox="1"/>
          <p:nvPr>
            <p:ph type="title"/>
          </p:nvPr>
        </p:nvSpPr>
        <p:spPr>
          <a:xfrm>
            <a:off x="169600" y="141375"/>
            <a:ext cx="3080700" cy="61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s">
                <a:solidFill>
                  <a:srgbClr val="0C677E"/>
                </a:solidFill>
                <a:latin typeface="Merriweather"/>
                <a:ea typeface="Merriweather"/>
                <a:cs typeface="Merriweather"/>
                <a:sym typeface="Merriweather"/>
              </a:rPr>
              <a:t>¿Por </a:t>
            </a:r>
            <a:r>
              <a:rPr b="0" lang="es">
                <a:solidFill>
                  <a:srgbClr val="0C677E"/>
                </a:solidFill>
                <a:latin typeface="Merriweather"/>
                <a:ea typeface="Merriweather"/>
                <a:cs typeface="Merriweather"/>
                <a:sym typeface="Merriweather"/>
              </a:rPr>
              <a:t>qué</a:t>
            </a:r>
            <a:r>
              <a:rPr b="0" lang="es">
                <a:solidFill>
                  <a:srgbClr val="0C677E"/>
                </a:solidFill>
                <a:latin typeface="Merriweather"/>
                <a:ea typeface="Merriweather"/>
                <a:cs typeface="Merriweather"/>
                <a:sym typeface="Merriweather"/>
              </a:rPr>
              <a:t> Miami?</a:t>
            </a:r>
            <a:endParaRPr b="0">
              <a:solidFill>
                <a:srgbClr val="0C677E"/>
              </a:solidFill>
              <a:latin typeface="Merriweather"/>
              <a:ea typeface="Merriweather"/>
              <a:cs typeface="Merriweather"/>
              <a:sym typeface="Merriweather"/>
            </a:endParaRPr>
          </a:p>
        </p:txBody>
      </p:sp>
      <p:sp>
        <p:nvSpPr>
          <p:cNvPr id="291" name="Google Shape;291;p15"/>
          <p:cNvSpPr txBox="1"/>
          <p:nvPr>
            <p:ph idx="1" type="body"/>
          </p:nvPr>
        </p:nvSpPr>
        <p:spPr>
          <a:xfrm>
            <a:off x="3105525" y="141375"/>
            <a:ext cx="5853300" cy="859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C677E"/>
              </a:buClr>
              <a:buSzPts val="1300"/>
              <a:buChar char="●"/>
            </a:pPr>
            <a:r>
              <a:rPr lang="es">
                <a:solidFill>
                  <a:schemeClr val="accent1"/>
                </a:solidFill>
              </a:rPr>
              <a:t>Miami destaca por su alto gasto promedio y frecuencia de consumo, lo que garantiza relevancia económica</a:t>
            </a:r>
            <a:r>
              <a:rPr lang="es">
                <a:solidFill>
                  <a:srgbClr val="0C677E"/>
                </a:solidFill>
              </a:rPr>
              <a:t>.</a:t>
            </a:r>
            <a:endParaRPr>
              <a:solidFill>
                <a:srgbClr val="0C677E"/>
              </a:solidFill>
            </a:endParaRPr>
          </a:p>
        </p:txBody>
      </p:sp>
      <p:pic>
        <p:nvPicPr>
          <p:cNvPr id="292" name="Google Shape;292;p15"/>
          <p:cNvPicPr preferRelativeResize="0"/>
          <p:nvPr/>
        </p:nvPicPr>
        <p:blipFill>
          <a:blip r:embed="rId3">
            <a:alphaModFix/>
          </a:blip>
          <a:stretch>
            <a:fillRect/>
          </a:stretch>
        </p:blipFill>
        <p:spPr>
          <a:xfrm>
            <a:off x="164086" y="700450"/>
            <a:ext cx="8794739" cy="4338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296" name="Shape 296"/>
        <p:cNvGrpSpPr/>
        <p:nvPr/>
      </p:nvGrpSpPr>
      <p:grpSpPr>
        <a:xfrm>
          <a:off x="0" y="0"/>
          <a:ext cx="0" cy="0"/>
          <a:chOff x="0" y="0"/>
          <a:chExt cx="0" cy="0"/>
        </a:xfrm>
      </p:grpSpPr>
      <p:pic>
        <p:nvPicPr>
          <p:cNvPr id="297" name="Google Shape;297;p16"/>
          <p:cNvPicPr preferRelativeResize="0"/>
          <p:nvPr/>
        </p:nvPicPr>
        <p:blipFill>
          <a:blip r:embed="rId3">
            <a:alphaModFix/>
          </a:blip>
          <a:stretch>
            <a:fillRect/>
          </a:stretch>
        </p:blipFill>
        <p:spPr>
          <a:xfrm>
            <a:off x="125800" y="116613"/>
            <a:ext cx="8892400" cy="4910275"/>
          </a:xfrm>
          <a:prstGeom prst="rect">
            <a:avLst/>
          </a:prstGeom>
          <a:noFill/>
          <a:ln>
            <a:noFill/>
          </a:ln>
        </p:spPr>
      </p:pic>
      <p:sp>
        <p:nvSpPr>
          <p:cNvPr id="298" name="Google Shape;298;p16"/>
          <p:cNvSpPr txBox="1"/>
          <p:nvPr/>
        </p:nvSpPr>
        <p:spPr>
          <a:xfrm>
            <a:off x="901675" y="1746700"/>
            <a:ext cx="2955300" cy="12621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Alto gasto en comida</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Consumo frecuente fuera del hogar</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Capacidad de absorción de precios altos</a:t>
            </a:r>
            <a:endParaRPr>
              <a:solidFill>
                <a:srgbClr val="0C677E"/>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302" name="Shape 302"/>
        <p:cNvGrpSpPr/>
        <p:nvPr/>
      </p:nvGrpSpPr>
      <p:grpSpPr>
        <a:xfrm>
          <a:off x="0" y="0"/>
          <a:ext cx="0" cy="0"/>
          <a:chOff x="0" y="0"/>
          <a:chExt cx="0" cy="0"/>
        </a:xfrm>
      </p:grpSpPr>
      <p:sp>
        <p:nvSpPr>
          <p:cNvPr id="303" name="Google Shape;303;p17"/>
          <p:cNvSpPr txBox="1"/>
          <p:nvPr>
            <p:ph type="title"/>
          </p:nvPr>
        </p:nvSpPr>
        <p:spPr>
          <a:xfrm>
            <a:off x="169600" y="141375"/>
            <a:ext cx="4452300" cy="61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0C677E"/>
                </a:solidFill>
                <a:latin typeface="Times New Roman"/>
                <a:ea typeface="Times New Roman"/>
                <a:cs typeface="Times New Roman"/>
                <a:sym typeface="Times New Roman"/>
              </a:rPr>
              <a:t>-Estructura de mercado-</a:t>
            </a:r>
            <a:endParaRPr>
              <a:solidFill>
                <a:srgbClr val="0C677E"/>
              </a:solidFill>
              <a:latin typeface="Times New Roman"/>
              <a:ea typeface="Times New Roman"/>
              <a:cs typeface="Times New Roman"/>
              <a:sym typeface="Times New Roman"/>
            </a:endParaRPr>
          </a:p>
        </p:txBody>
      </p:sp>
      <p:sp>
        <p:nvSpPr>
          <p:cNvPr id="304" name="Google Shape;304;p17"/>
          <p:cNvSpPr txBox="1"/>
          <p:nvPr/>
        </p:nvSpPr>
        <p:spPr>
          <a:xfrm>
            <a:off x="1184025" y="753075"/>
            <a:ext cx="7692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rgbClr val="0C677E"/>
                </a:solidFill>
                <a:latin typeface="Times New Roman"/>
                <a:ea typeface="Times New Roman"/>
                <a:cs typeface="Times New Roman"/>
                <a:sym typeface="Times New Roman"/>
              </a:rPr>
              <a:t>El mercado está dominado por precios medios, con un segmento premium reducido pero estratégico. Comida tipo breakfast y estilo latino fuertemente cubano.</a:t>
            </a:r>
            <a:endParaRPr sz="1500">
              <a:solidFill>
                <a:srgbClr val="0C677E"/>
              </a:solidFill>
              <a:latin typeface="Times New Roman"/>
              <a:ea typeface="Times New Roman"/>
              <a:cs typeface="Times New Roman"/>
              <a:sym typeface="Times New Roman"/>
            </a:endParaRPr>
          </a:p>
        </p:txBody>
      </p:sp>
      <p:pic>
        <p:nvPicPr>
          <p:cNvPr id="305" name="Google Shape;305;p17"/>
          <p:cNvPicPr preferRelativeResize="0"/>
          <p:nvPr/>
        </p:nvPicPr>
        <p:blipFill>
          <a:blip r:embed="rId3">
            <a:alphaModFix/>
          </a:blip>
          <a:stretch>
            <a:fillRect/>
          </a:stretch>
        </p:blipFill>
        <p:spPr>
          <a:xfrm>
            <a:off x="72875" y="1358513"/>
            <a:ext cx="4361665" cy="3439126"/>
          </a:xfrm>
          <a:prstGeom prst="rect">
            <a:avLst/>
          </a:prstGeom>
          <a:noFill/>
          <a:ln>
            <a:noFill/>
          </a:ln>
        </p:spPr>
      </p:pic>
      <p:pic>
        <p:nvPicPr>
          <p:cNvPr id="306" name="Google Shape;306;p17"/>
          <p:cNvPicPr preferRelativeResize="0"/>
          <p:nvPr/>
        </p:nvPicPr>
        <p:blipFill>
          <a:blip r:embed="rId4">
            <a:alphaModFix/>
          </a:blip>
          <a:stretch>
            <a:fillRect/>
          </a:stretch>
        </p:blipFill>
        <p:spPr>
          <a:xfrm>
            <a:off x="4481225" y="1358525"/>
            <a:ext cx="4703057" cy="34391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310" name="Shape 310"/>
        <p:cNvGrpSpPr/>
        <p:nvPr/>
      </p:nvGrpSpPr>
      <p:grpSpPr>
        <a:xfrm>
          <a:off x="0" y="0"/>
          <a:ext cx="0" cy="0"/>
          <a:chOff x="0" y="0"/>
          <a:chExt cx="0" cy="0"/>
        </a:xfrm>
      </p:grpSpPr>
      <p:sp>
        <p:nvSpPr>
          <p:cNvPr id="311" name="Google Shape;311;p18"/>
          <p:cNvSpPr txBox="1"/>
          <p:nvPr>
            <p:ph type="title"/>
          </p:nvPr>
        </p:nvSpPr>
        <p:spPr>
          <a:xfrm>
            <a:off x="169600" y="141375"/>
            <a:ext cx="8435400" cy="6117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s">
                <a:solidFill>
                  <a:srgbClr val="0C677E"/>
                </a:solidFill>
                <a:latin typeface="Times New Roman"/>
                <a:ea typeface="Times New Roman"/>
                <a:cs typeface="Times New Roman"/>
                <a:sym typeface="Times New Roman"/>
              </a:rPr>
              <a:t>-Calidad del mercado-</a:t>
            </a:r>
            <a:endParaRPr>
              <a:solidFill>
                <a:srgbClr val="0C677E"/>
              </a:solidFill>
              <a:latin typeface="Times New Roman"/>
              <a:ea typeface="Times New Roman"/>
              <a:cs typeface="Times New Roman"/>
              <a:sym typeface="Times New Roman"/>
            </a:endParaRPr>
          </a:p>
        </p:txBody>
      </p:sp>
      <p:sp>
        <p:nvSpPr>
          <p:cNvPr id="312" name="Google Shape;312;p18"/>
          <p:cNvSpPr txBox="1"/>
          <p:nvPr/>
        </p:nvSpPr>
        <p:spPr>
          <a:xfrm>
            <a:off x="5246275" y="905475"/>
            <a:ext cx="3148200" cy="38172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0C677E"/>
              </a:buClr>
              <a:buSzPts val="1600"/>
              <a:buFont typeface="Times New Roman"/>
              <a:buChar char="●"/>
            </a:pPr>
            <a:r>
              <a:rPr lang="es" sz="1600">
                <a:solidFill>
                  <a:srgbClr val="0C677E"/>
                </a:solidFill>
                <a:latin typeface="Times New Roman"/>
                <a:ea typeface="Times New Roman"/>
                <a:cs typeface="Times New Roman"/>
                <a:sym typeface="Times New Roman"/>
              </a:rPr>
              <a:t>Revela alta concentración de calificación de 4-5 estrellas mercado de alta calidad-clientes exigentes</a:t>
            </a:r>
            <a:endParaRPr sz="1600">
              <a:solidFill>
                <a:srgbClr val="0C677E"/>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rgbClr val="0C677E"/>
              </a:solidFill>
              <a:latin typeface="Times New Roman"/>
              <a:ea typeface="Times New Roman"/>
              <a:cs typeface="Times New Roman"/>
              <a:sym typeface="Times New Roman"/>
            </a:endParaRPr>
          </a:p>
          <a:p>
            <a:pPr indent="-330200" lvl="0" marL="457200" rtl="0" algn="l">
              <a:spcBef>
                <a:spcPts val="0"/>
              </a:spcBef>
              <a:spcAft>
                <a:spcPts val="0"/>
              </a:spcAft>
              <a:buClr>
                <a:srgbClr val="0C677E"/>
              </a:buClr>
              <a:buSzPts val="1600"/>
              <a:buFont typeface="Times New Roman"/>
              <a:buChar char="●"/>
            </a:pPr>
            <a:r>
              <a:rPr lang="es" sz="1600">
                <a:solidFill>
                  <a:srgbClr val="0C677E"/>
                </a:solidFill>
                <a:latin typeface="Times New Roman"/>
                <a:ea typeface="Times New Roman"/>
                <a:cs typeface="Times New Roman"/>
                <a:sym typeface="Times New Roman"/>
              </a:rPr>
              <a:t>posibles mercados de alta rotación y competencia.</a:t>
            </a:r>
            <a:endParaRPr sz="1600">
              <a:solidFill>
                <a:srgbClr val="0C677E"/>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rgbClr val="0C677E"/>
              </a:solidFill>
              <a:latin typeface="Times New Roman"/>
              <a:ea typeface="Times New Roman"/>
              <a:cs typeface="Times New Roman"/>
              <a:sym typeface="Times New Roman"/>
            </a:endParaRPr>
          </a:p>
          <a:p>
            <a:pPr indent="-330200" lvl="0" marL="457200" rtl="0" algn="l">
              <a:spcBef>
                <a:spcPts val="0"/>
              </a:spcBef>
              <a:spcAft>
                <a:spcPts val="0"/>
              </a:spcAft>
              <a:buClr>
                <a:srgbClr val="0C677E"/>
              </a:buClr>
              <a:buSzPts val="1600"/>
              <a:buChar char="●"/>
            </a:pPr>
            <a:r>
              <a:rPr lang="es" sz="1600">
                <a:solidFill>
                  <a:srgbClr val="0C677E"/>
                </a:solidFill>
                <a:latin typeface="Times New Roman"/>
                <a:ea typeface="Times New Roman"/>
                <a:cs typeface="Times New Roman"/>
                <a:sym typeface="Times New Roman"/>
              </a:rPr>
              <a:t>Hay un </a:t>
            </a:r>
            <a:r>
              <a:rPr lang="es" sz="1600">
                <a:solidFill>
                  <a:srgbClr val="0C677E"/>
                </a:solidFill>
                <a:latin typeface="Times New Roman"/>
                <a:ea typeface="Times New Roman"/>
                <a:cs typeface="Times New Roman"/>
                <a:sym typeface="Times New Roman"/>
              </a:rPr>
              <a:t>número</a:t>
            </a:r>
            <a:r>
              <a:rPr lang="es" sz="1600">
                <a:solidFill>
                  <a:srgbClr val="0C677E"/>
                </a:solidFill>
                <a:latin typeface="Times New Roman"/>
                <a:ea typeface="Times New Roman"/>
                <a:cs typeface="Times New Roman"/>
                <a:sym typeface="Times New Roman"/>
              </a:rPr>
              <a:t> representativo sin calificar, es una </a:t>
            </a:r>
            <a:r>
              <a:rPr b="1" lang="es" sz="1600">
                <a:solidFill>
                  <a:srgbClr val="0C677E"/>
                </a:solidFill>
                <a:latin typeface="Times New Roman"/>
                <a:ea typeface="Times New Roman"/>
                <a:cs typeface="Times New Roman"/>
                <a:sym typeface="Times New Roman"/>
              </a:rPr>
              <a:t>ventana de oportunidad para capturas tempranas para accionar estrategias.</a:t>
            </a:r>
            <a:endParaRPr b="1" sz="1600">
              <a:solidFill>
                <a:srgbClr val="0C677E"/>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rgbClr val="0C677E"/>
              </a:solidFill>
            </a:endParaRPr>
          </a:p>
          <a:p>
            <a:pPr indent="0" lvl="0" marL="457200" rtl="0" algn="l">
              <a:spcBef>
                <a:spcPts val="0"/>
              </a:spcBef>
              <a:spcAft>
                <a:spcPts val="0"/>
              </a:spcAft>
              <a:buNone/>
            </a:pPr>
            <a:r>
              <a:t/>
            </a:r>
            <a:endParaRPr>
              <a:solidFill>
                <a:srgbClr val="0C677E"/>
              </a:solidFill>
            </a:endParaRPr>
          </a:p>
        </p:txBody>
      </p:sp>
      <p:pic>
        <p:nvPicPr>
          <p:cNvPr id="313" name="Google Shape;313;p18"/>
          <p:cNvPicPr preferRelativeResize="0"/>
          <p:nvPr/>
        </p:nvPicPr>
        <p:blipFill>
          <a:blip r:embed="rId3">
            <a:alphaModFix/>
          </a:blip>
          <a:stretch>
            <a:fillRect/>
          </a:stretch>
        </p:blipFill>
        <p:spPr>
          <a:xfrm>
            <a:off x="113225" y="789600"/>
            <a:ext cx="5037525" cy="4160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317" name="Shape 317"/>
        <p:cNvGrpSpPr/>
        <p:nvPr/>
      </p:nvGrpSpPr>
      <p:grpSpPr>
        <a:xfrm>
          <a:off x="0" y="0"/>
          <a:ext cx="0" cy="0"/>
          <a:chOff x="0" y="0"/>
          <a:chExt cx="0" cy="0"/>
        </a:xfrm>
      </p:grpSpPr>
      <p:sp>
        <p:nvSpPr>
          <p:cNvPr id="318" name="Google Shape;318;p19"/>
          <p:cNvSpPr txBox="1"/>
          <p:nvPr>
            <p:ph type="title"/>
          </p:nvPr>
        </p:nvSpPr>
        <p:spPr>
          <a:xfrm>
            <a:off x="334000" y="61450"/>
            <a:ext cx="7030500" cy="62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0C677E"/>
                </a:solidFill>
                <a:latin typeface="Times New Roman"/>
                <a:ea typeface="Times New Roman"/>
                <a:cs typeface="Times New Roman"/>
                <a:sym typeface="Times New Roman"/>
              </a:rPr>
              <a:t>-Matriz correlación-</a:t>
            </a:r>
            <a:endParaRPr>
              <a:solidFill>
                <a:srgbClr val="0C677E"/>
              </a:solidFill>
              <a:latin typeface="Times New Roman"/>
              <a:ea typeface="Times New Roman"/>
              <a:cs typeface="Times New Roman"/>
              <a:sym typeface="Times New Roman"/>
            </a:endParaRPr>
          </a:p>
        </p:txBody>
      </p:sp>
      <p:pic>
        <p:nvPicPr>
          <p:cNvPr id="319" name="Google Shape;319;p19"/>
          <p:cNvPicPr preferRelativeResize="0"/>
          <p:nvPr/>
        </p:nvPicPr>
        <p:blipFill>
          <a:blip r:embed="rId3">
            <a:alphaModFix/>
          </a:blip>
          <a:stretch>
            <a:fillRect/>
          </a:stretch>
        </p:blipFill>
        <p:spPr>
          <a:xfrm>
            <a:off x="85150" y="685438"/>
            <a:ext cx="4676400" cy="4118876"/>
          </a:xfrm>
          <a:prstGeom prst="rect">
            <a:avLst/>
          </a:prstGeom>
          <a:noFill/>
          <a:ln>
            <a:noFill/>
          </a:ln>
        </p:spPr>
      </p:pic>
      <p:sp>
        <p:nvSpPr>
          <p:cNvPr id="320" name="Google Shape;320;p19"/>
          <p:cNvSpPr txBox="1"/>
          <p:nvPr/>
        </p:nvSpPr>
        <p:spPr>
          <a:xfrm>
            <a:off x="5174325" y="1807400"/>
            <a:ext cx="38469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0C677E"/>
              </a:solidFill>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Relación fuerte frecuencia e ingresos</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Relación moderada-alta gasto promedio e ingresos. </a:t>
            </a:r>
            <a:endParaRPr>
              <a:solidFill>
                <a:srgbClr val="0C677E"/>
              </a:solidFill>
              <a:latin typeface="Times New Roman"/>
              <a:ea typeface="Times New Roman"/>
              <a:cs typeface="Times New Roman"/>
              <a:sym typeface="Times New Roman"/>
            </a:endParaRPr>
          </a:p>
          <a:p>
            <a:pPr indent="0" lvl="0" marL="457200" rtl="0" algn="l">
              <a:spcBef>
                <a:spcPts val="0"/>
              </a:spcBef>
              <a:spcAft>
                <a:spcPts val="0"/>
              </a:spcAft>
              <a:buNone/>
            </a:pPr>
            <a:r>
              <a:rPr lang="es">
                <a:solidFill>
                  <a:srgbClr val="0C677E"/>
                </a:solidFill>
                <a:latin typeface="Times New Roman"/>
                <a:ea typeface="Times New Roman"/>
                <a:cs typeface="Times New Roman"/>
                <a:sym typeface="Times New Roman"/>
              </a:rPr>
              <a:t>-</a:t>
            </a:r>
            <a:r>
              <a:rPr lang="es">
                <a:solidFill>
                  <a:srgbClr val="0C677E"/>
                </a:solidFill>
                <a:latin typeface="Times New Roman"/>
                <a:ea typeface="Times New Roman"/>
                <a:cs typeface="Times New Roman"/>
                <a:sym typeface="Times New Roman"/>
              </a:rPr>
              <a:t>ESTRATEGIAS-</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No se prioriza la edad como factor determinante (no se segmenta)</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Los clientes que consumen más seguido generan más valor que los que gastan mucho ocasionalmente. segmentación por </a:t>
            </a:r>
            <a:r>
              <a:rPr lang="es">
                <a:solidFill>
                  <a:srgbClr val="0C677E"/>
                </a:solidFill>
                <a:latin typeface="Times New Roman"/>
                <a:ea typeface="Times New Roman"/>
                <a:cs typeface="Times New Roman"/>
                <a:sym typeface="Times New Roman"/>
              </a:rPr>
              <a:t>frecuencia</a:t>
            </a:r>
            <a:r>
              <a:rPr lang="es">
                <a:solidFill>
                  <a:srgbClr val="0C677E"/>
                </a:solidFill>
                <a:latin typeface="Times New Roman"/>
                <a:ea typeface="Times New Roman"/>
                <a:cs typeface="Times New Roman"/>
                <a:sym typeface="Times New Roman"/>
              </a:rPr>
              <a:t>.</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Estrategia de fidelización consecuente a </a:t>
            </a:r>
            <a:r>
              <a:rPr lang="es">
                <a:solidFill>
                  <a:srgbClr val="0C677E"/>
                </a:solidFill>
                <a:latin typeface="Times New Roman"/>
                <a:ea typeface="Times New Roman"/>
                <a:cs typeface="Times New Roman"/>
                <a:sym typeface="Times New Roman"/>
              </a:rPr>
              <a:t>membresías</a:t>
            </a:r>
            <a:r>
              <a:rPr lang="es">
                <a:solidFill>
                  <a:srgbClr val="0C677E"/>
                </a:solidFill>
                <a:latin typeface="Times New Roman"/>
                <a:ea typeface="Times New Roman"/>
                <a:cs typeface="Times New Roman"/>
                <a:sym typeface="Times New Roman"/>
              </a:rPr>
              <a:t>, programas de lealtad.</a:t>
            </a:r>
            <a:endParaRPr>
              <a:solidFill>
                <a:srgbClr val="0C677E"/>
              </a:solidFill>
              <a:latin typeface="Times New Roman"/>
              <a:ea typeface="Times New Roman"/>
              <a:cs typeface="Times New Roman"/>
              <a:sym typeface="Times New Roman"/>
            </a:endParaRPr>
          </a:p>
        </p:txBody>
      </p:sp>
      <p:pic>
        <p:nvPicPr>
          <p:cNvPr id="321" name="Google Shape;321;p19"/>
          <p:cNvPicPr preferRelativeResize="0"/>
          <p:nvPr/>
        </p:nvPicPr>
        <p:blipFill>
          <a:blip r:embed="rId4">
            <a:alphaModFix/>
          </a:blip>
          <a:stretch>
            <a:fillRect/>
          </a:stretch>
        </p:blipFill>
        <p:spPr>
          <a:xfrm>
            <a:off x="5749838" y="35975"/>
            <a:ext cx="2634275" cy="2046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325" name="Shape 325"/>
        <p:cNvGrpSpPr/>
        <p:nvPr/>
      </p:nvGrpSpPr>
      <p:grpSpPr>
        <a:xfrm>
          <a:off x="0" y="0"/>
          <a:ext cx="0" cy="0"/>
          <a:chOff x="0" y="0"/>
          <a:chExt cx="0" cy="0"/>
        </a:xfrm>
      </p:grpSpPr>
      <p:sp>
        <p:nvSpPr>
          <p:cNvPr id="326" name="Google Shape;326;p20"/>
          <p:cNvSpPr txBox="1"/>
          <p:nvPr>
            <p:ph type="title"/>
          </p:nvPr>
        </p:nvSpPr>
        <p:spPr>
          <a:xfrm>
            <a:off x="169600" y="141375"/>
            <a:ext cx="8435400" cy="611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Clr>
                <a:srgbClr val="0C677E"/>
              </a:buClr>
              <a:buSzPct val="100000"/>
              <a:buFont typeface="Times New Roman"/>
              <a:buChar char="-"/>
            </a:pPr>
            <a:r>
              <a:rPr lang="es">
                <a:solidFill>
                  <a:srgbClr val="0C677E"/>
                </a:solidFill>
                <a:latin typeface="Times New Roman"/>
                <a:ea typeface="Times New Roman"/>
                <a:cs typeface="Times New Roman"/>
                <a:sym typeface="Times New Roman"/>
              </a:rPr>
              <a:t>Tendencia representativo por lo Vegetariano-Vegano</a:t>
            </a:r>
            <a:endParaRPr>
              <a:solidFill>
                <a:srgbClr val="0C677E"/>
              </a:solidFill>
              <a:latin typeface="Times New Roman"/>
              <a:ea typeface="Times New Roman"/>
              <a:cs typeface="Times New Roman"/>
              <a:sym typeface="Times New Roman"/>
            </a:endParaRPr>
          </a:p>
        </p:txBody>
      </p:sp>
      <p:pic>
        <p:nvPicPr>
          <p:cNvPr id="327" name="Google Shape;327;p20"/>
          <p:cNvPicPr preferRelativeResize="0"/>
          <p:nvPr/>
        </p:nvPicPr>
        <p:blipFill>
          <a:blip r:embed="rId3">
            <a:alphaModFix/>
          </a:blip>
          <a:stretch>
            <a:fillRect/>
          </a:stretch>
        </p:blipFill>
        <p:spPr>
          <a:xfrm>
            <a:off x="77100" y="774175"/>
            <a:ext cx="6200724" cy="4213450"/>
          </a:xfrm>
          <a:prstGeom prst="rect">
            <a:avLst/>
          </a:prstGeom>
          <a:noFill/>
          <a:ln>
            <a:noFill/>
          </a:ln>
        </p:spPr>
      </p:pic>
      <p:sp>
        <p:nvSpPr>
          <p:cNvPr id="328" name="Google Shape;328;p20"/>
          <p:cNvSpPr txBox="1"/>
          <p:nvPr/>
        </p:nvSpPr>
        <p:spPr>
          <a:xfrm>
            <a:off x="6222575" y="1062325"/>
            <a:ext cx="30093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0C677E"/>
                </a:solidFill>
                <a:latin typeface="Times New Roman"/>
                <a:ea typeface="Times New Roman"/>
                <a:cs typeface="Times New Roman"/>
                <a:sym typeface="Times New Roman"/>
              </a:rPr>
              <a:t>ESTRATEGIAS</a:t>
            </a:r>
            <a:endParaRPr>
              <a:solidFill>
                <a:srgbClr val="0C677E"/>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 se puede optar por nicho específico por ejemplo cuban brunch vegano por posibles tendencias de salud vegana o vegetariana</a:t>
            </a:r>
            <a:endParaRPr>
              <a:solidFill>
                <a:srgbClr val="0C677E"/>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nichos seguros con poca competencia como la comida italiana o híbridos con licores</a:t>
            </a:r>
            <a:endParaRPr>
              <a:solidFill>
                <a:srgbClr val="0C677E"/>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rgbClr val="0C677E"/>
              </a:solidFill>
              <a:latin typeface="Times New Roman"/>
              <a:ea typeface="Times New Roman"/>
              <a:cs typeface="Times New Roman"/>
              <a:sym typeface="Times New Roman"/>
            </a:endParaRPr>
          </a:p>
          <a:p>
            <a:pPr indent="-317500" lvl="0" marL="457200" rtl="0" algn="l">
              <a:spcBef>
                <a:spcPts val="0"/>
              </a:spcBef>
              <a:spcAft>
                <a:spcPts val="0"/>
              </a:spcAft>
              <a:buClr>
                <a:srgbClr val="0C677E"/>
              </a:buClr>
              <a:buSzPts val="1400"/>
              <a:buFont typeface="Times New Roman"/>
              <a:buChar char="●"/>
            </a:pPr>
            <a:r>
              <a:rPr lang="es">
                <a:solidFill>
                  <a:srgbClr val="0C677E"/>
                </a:solidFill>
                <a:latin typeface="Times New Roman"/>
                <a:ea typeface="Times New Roman"/>
                <a:cs typeface="Times New Roman"/>
                <a:sym typeface="Times New Roman"/>
              </a:rPr>
              <a:t>Sector de mariscos muy popular y competido se debe entrar con calidad premium y rápidos ratings y reviews.</a:t>
            </a:r>
            <a:endParaRPr>
              <a:solidFill>
                <a:srgbClr val="0C677E"/>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2DCDD"/>
        </a:solidFill>
      </p:bgPr>
    </p:bg>
    <p:spTree>
      <p:nvGrpSpPr>
        <p:cNvPr id="332" name="Shape 332"/>
        <p:cNvGrpSpPr/>
        <p:nvPr/>
      </p:nvGrpSpPr>
      <p:grpSpPr>
        <a:xfrm>
          <a:off x="0" y="0"/>
          <a:ext cx="0" cy="0"/>
          <a:chOff x="0" y="0"/>
          <a:chExt cx="0" cy="0"/>
        </a:xfrm>
      </p:grpSpPr>
      <p:sp>
        <p:nvSpPr>
          <p:cNvPr id="333" name="Google Shape;333;p21"/>
          <p:cNvSpPr txBox="1"/>
          <p:nvPr>
            <p:ph type="title"/>
          </p:nvPr>
        </p:nvSpPr>
        <p:spPr>
          <a:xfrm>
            <a:off x="169600" y="141375"/>
            <a:ext cx="8435400" cy="6117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Clr>
                <a:srgbClr val="0C677E"/>
              </a:buClr>
              <a:buSzPts val="2800"/>
              <a:buFont typeface="Times New Roman"/>
              <a:buChar char="-"/>
            </a:pPr>
            <a:r>
              <a:rPr lang="es">
                <a:solidFill>
                  <a:srgbClr val="0C677E"/>
                </a:solidFill>
                <a:latin typeface="Times New Roman"/>
                <a:ea typeface="Times New Roman"/>
                <a:cs typeface="Times New Roman"/>
                <a:sym typeface="Times New Roman"/>
              </a:rPr>
              <a:t>Conclusiones -</a:t>
            </a:r>
            <a:endParaRPr>
              <a:solidFill>
                <a:srgbClr val="0C677E"/>
              </a:solidFill>
              <a:latin typeface="Times New Roman"/>
              <a:ea typeface="Times New Roman"/>
              <a:cs typeface="Times New Roman"/>
              <a:sym typeface="Times New Roman"/>
            </a:endParaRPr>
          </a:p>
        </p:txBody>
      </p:sp>
      <p:sp>
        <p:nvSpPr>
          <p:cNvPr id="334" name="Google Shape;334;p21"/>
          <p:cNvSpPr txBox="1"/>
          <p:nvPr/>
        </p:nvSpPr>
        <p:spPr>
          <a:xfrm>
            <a:off x="266875" y="786550"/>
            <a:ext cx="8538300" cy="4279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C677E"/>
              </a:buClr>
              <a:buSzPts val="1400"/>
              <a:buFont typeface="Times New Roman"/>
              <a:buAutoNum type="arabicPeriod"/>
            </a:pPr>
            <a:r>
              <a:rPr lang="es">
                <a:solidFill>
                  <a:srgbClr val="0C677E"/>
                </a:solidFill>
                <a:latin typeface="Times New Roman"/>
                <a:ea typeface="Times New Roman"/>
                <a:cs typeface="Times New Roman"/>
                <a:sym typeface="Times New Roman"/>
              </a:rPr>
              <a:t>Miami es un mercado con alto potencial económico</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s">
                <a:solidFill>
                  <a:srgbClr val="0C677E"/>
                </a:solidFill>
                <a:latin typeface="Times New Roman"/>
                <a:ea typeface="Times New Roman"/>
                <a:cs typeface="Times New Roman"/>
                <a:sym typeface="Times New Roman"/>
              </a:rPr>
              <a:t>La ciudad presenta elevados niveles de gasto y frecuencia de consumo, lo que la posiciona como un entorno atractivo para estrategias gastronómicas de valor medio–alto y premium.</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a:solidFill>
                <a:srgbClr val="0C677E"/>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C677E"/>
              </a:buClr>
              <a:buSzPts val="1400"/>
              <a:buFont typeface="Times New Roman"/>
              <a:buAutoNum type="arabicPeriod"/>
            </a:pPr>
            <a:r>
              <a:rPr lang="es">
                <a:solidFill>
                  <a:srgbClr val="0C677E"/>
                </a:solidFill>
                <a:latin typeface="Times New Roman"/>
                <a:ea typeface="Times New Roman"/>
                <a:cs typeface="Times New Roman"/>
                <a:sym typeface="Times New Roman"/>
              </a:rPr>
              <a:t>La frecuencia de consumo es el principal generador de ingresos</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s">
                <a:solidFill>
                  <a:srgbClr val="0C677E"/>
                </a:solidFill>
                <a:latin typeface="Times New Roman"/>
                <a:ea typeface="Times New Roman"/>
                <a:cs typeface="Times New Roman"/>
                <a:sym typeface="Times New Roman"/>
              </a:rPr>
              <a:t>Los clientes recurrentes aportan mayor valor económico que aquellos con consumo ocasional, independientemente de la edad.</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a:solidFill>
                <a:srgbClr val="0C677E"/>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C677E"/>
              </a:buClr>
              <a:buSzPts val="1400"/>
              <a:buFont typeface="Times New Roman"/>
              <a:buAutoNum type="arabicPeriod"/>
            </a:pPr>
            <a:r>
              <a:rPr lang="es">
                <a:solidFill>
                  <a:srgbClr val="0C677E"/>
                </a:solidFill>
                <a:latin typeface="Times New Roman"/>
                <a:ea typeface="Times New Roman"/>
                <a:cs typeface="Times New Roman"/>
                <a:sym typeface="Times New Roman"/>
              </a:rPr>
              <a:t>La edad no influye significativamente en el comportamiento de consumo</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s">
                <a:solidFill>
                  <a:srgbClr val="0C677E"/>
                </a:solidFill>
                <a:latin typeface="Times New Roman"/>
                <a:ea typeface="Times New Roman"/>
                <a:cs typeface="Times New Roman"/>
                <a:sym typeface="Times New Roman"/>
              </a:rPr>
              <a:t>No existe una relación relevante entre edad y gasto, frecuencia o ingresos, validando una segmentación basada en comportamiento y no en demografía.</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a:solidFill>
                <a:srgbClr val="0C677E"/>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C677E"/>
              </a:buClr>
              <a:buSzPts val="1400"/>
              <a:buFont typeface="Times New Roman"/>
              <a:buAutoNum type="arabicPeriod"/>
            </a:pPr>
            <a:r>
              <a:rPr lang="es">
                <a:solidFill>
                  <a:srgbClr val="0C677E"/>
                </a:solidFill>
                <a:latin typeface="Times New Roman"/>
                <a:ea typeface="Times New Roman"/>
                <a:cs typeface="Times New Roman"/>
                <a:sym typeface="Times New Roman"/>
              </a:rPr>
              <a:t>Existe una tendencia clara hacia opciones saludables </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s">
                <a:solidFill>
                  <a:srgbClr val="0C677E"/>
                </a:solidFill>
                <a:latin typeface="Times New Roman"/>
                <a:ea typeface="Times New Roman"/>
                <a:cs typeface="Times New Roman"/>
                <a:sym typeface="Times New Roman"/>
              </a:rPr>
              <a:t>Las preferencias del consumidor muestran una inclinación significativa hacia opciones vegetarianas, veganas y proteínas ligeras, integradas de forma transversal en categorías de alto volumen.</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a:solidFill>
                <a:srgbClr val="0C677E"/>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C677E"/>
              </a:buClr>
              <a:buSzPts val="1400"/>
              <a:buFont typeface="Times New Roman"/>
              <a:buAutoNum type="arabicPeriod"/>
            </a:pPr>
            <a:r>
              <a:rPr lang="es">
                <a:solidFill>
                  <a:srgbClr val="0C677E"/>
                </a:solidFill>
                <a:latin typeface="Times New Roman"/>
                <a:ea typeface="Times New Roman"/>
                <a:cs typeface="Times New Roman"/>
                <a:sym typeface="Times New Roman"/>
              </a:rPr>
              <a:t>La reputación y la experiencia superan al precio como factores de decisión</a:t>
            </a:r>
            <a:endParaRPr>
              <a:solidFill>
                <a:srgbClr val="0C677E"/>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s">
                <a:solidFill>
                  <a:srgbClr val="0C677E"/>
                </a:solidFill>
                <a:latin typeface="Times New Roman"/>
                <a:ea typeface="Times New Roman"/>
                <a:cs typeface="Times New Roman"/>
                <a:sym typeface="Times New Roman"/>
              </a:rPr>
              <a:t>Los restaurantes mejor valorados concentran la demanda, lo que indica que la calidad percibida es clave para capturar y retener clientes de alto valor.</a:t>
            </a:r>
            <a:endParaRPr>
              <a:solidFill>
                <a:srgbClr val="0C677E"/>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